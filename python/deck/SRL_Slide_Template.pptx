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Good morning and thank you all for agreeing to be on my committee. My name is Alex, and I’m proposing a project to investigate the generation of sparse point clouds of unknown and uncooperative spacecraft using a relatively new camera technology, neuromorphic cameras – these are often also called </a:t>
            </a:r>
            <a:r>
              <a:rPr i="1" lang="en-US"/>
              <a:t>event</a:t>
            </a:r>
            <a:r>
              <a:rPr lang="en-US"/>
              <a:t> cameras.</a:t>
            </a:r>
            <a:endParaRPr/>
          </a:p>
        </p:txBody>
      </p:sp>
      <p:sp>
        <p:nvSpPr>
          <p:cNvPr id="137" name="Google Shape;13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presentation is going to be divided into four parts: I’ll start with the research motivations, then cover the overall problem statement and how the problem is currently solved. This will lead into the actual proposed research, and I will then end this presentation by discussion some preliminary results from the research I’ve completed up to today.</a:t>
            </a:r>
            <a:endParaRPr/>
          </a:p>
        </p:txBody>
      </p:sp>
      <p:sp>
        <p:nvSpPr>
          <p:cNvPr id="145" name="Google Shape;1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df0766de5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Alright, let’s jump into the motivation for this research.</a:t>
            </a:r>
            <a:endParaRPr/>
          </a:p>
        </p:txBody>
      </p:sp>
      <p:sp>
        <p:nvSpPr>
          <p:cNvPr id="151" name="Google Shape;151;g36df0766de5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9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8.png"/><Relationship Id="rId6" Type="http://schemas.openxmlformats.org/officeDocument/2006/relationships/image" Target="../media/image1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8030" y="4108174"/>
            <a:ext cx="2115970" cy="1035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8030" y="4108174"/>
            <a:ext cx="2115970" cy="103532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type="ctrTitle"/>
          </p:nvPr>
        </p:nvSpPr>
        <p:spPr>
          <a:xfrm>
            <a:off x="572400" y="816086"/>
            <a:ext cx="5712714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72400" y="2685098"/>
            <a:ext cx="5712714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/>
        </p:nvSpPr>
        <p:spPr>
          <a:xfrm>
            <a:off x="8739966" y="4867094"/>
            <a:ext cx="644577" cy="3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19;p2" title="SRL_letter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0300" y="293003"/>
            <a:ext cx="1591429" cy="684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">
  <p:cSld name="Content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, company name&#10;&#10;Description automatically generated" id="21" name="Google Shape;21;p3"/>
          <p:cNvPicPr preferRelativeResize="0"/>
          <p:nvPr/>
        </p:nvPicPr>
        <p:blipFill rotWithShape="1">
          <a:blip r:embed="rId2">
            <a:alphaModFix/>
          </a:blip>
          <a:srcRect b="40218" l="41195" r="599" t="36956"/>
          <a:stretch/>
        </p:blipFill>
        <p:spPr>
          <a:xfrm>
            <a:off x="7888221" y="171452"/>
            <a:ext cx="1121569" cy="4398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surface with a black background&#10;&#10;Description automatically generated with medium confidence"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surface with a black background&#10;&#10;Description automatically generated with medium confidence" id="23" name="Google Shape;2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952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>
            <p:ph idx="1" type="body"/>
          </p:nvPr>
        </p:nvSpPr>
        <p:spPr>
          <a:xfrm>
            <a:off x="571500" y="1208347"/>
            <a:ext cx="8055666" cy="3118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6306" y="4322619"/>
            <a:ext cx="1677694" cy="82088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>
            <p:ph type="title"/>
          </p:nvPr>
        </p:nvSpPr>
        <p:spPr>
          <a:xfrm>
            <a:off x="571499" y="432594"/>
            <a:ext cx="8055666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6306" y="4322619"/>
            <a:ext cx="1677694" cy="82088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/>
          <p:nvPr/>
        </p:nvSpPr>
        <p:spPr>
          <a:xfrm>
            <a:off x="8739966" y="4867094"/>
            <a:ext cx="644577" cy="3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7422325" y="7950"/>
            <a:ext cx="1645500" cy="95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" name="Google Shape;30;p3" title="SRL_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71600" y="171700"/>
            <a:ext cx="720000" cy="7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New Section">
  <p:cSld name="2_New Sec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>
            <p:ph type="ctrTitle"/>
          </p:nvPr>
        </p:nvSpPr>
        <p:spPr>
          <a:xfrm>
            <a:off x="572400" y="421148"/>
            <a:ext cx="5712714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572400" y="2280904"/>
            <a:ext cx="5712714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8030" y="4108174"/>
            <a:ext cx="2115970" cy="1035326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 txBox="1"/>
          <p:nvPr/>
        </p:nvSpPr>
        <p:spPr>
          <a:xfrm>
            <a:off x="8739966" y="4867094"/>
            <a:ext cx="644577" cy="3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Box">
  <p:cSld name="Content With Box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, company name&#10;&#10;Description automatically generated" id="38" name="Google Shape;38;p5"/>
          <p:cNvPicPr preferRelativeResize="0"/>
          <p:nvPr/>
        </p:nvPicPr>
        <p:blipFill rotWithShape="1">
          <a:blip r:embed="rId2">
            <a:alphaModFix/>
          </a:blip>
          <a:srcRect b="40218" l="41195" r="599" t="36956"/>
          <a:stretch/>
        </p:blipFill>
        <p:spPr>
          <a:xfrm>
            <a:off x="7888221" y="171452"/>
            <a:ext cx="1121569" cy="4398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surface with a black background&#10;&#10;Description automatically generated with medium confidence" id="39" name="Google Shape;3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surface with a black background&#10;&#10;Description automatically generated with medium confidence"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 txBox="1"/>
          <p:nvPr>
            <p:ph idx="1" type="body"/>
          </p:nvPr>
        </p:nvSpPr>
        <p:spPr>
          <a:xfrm>
            <a:off x="572401" y="1306799"/>
            <a:ext cx="4425268" cy="311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6306" y="4322619"/>
            <a:ext cx="1677694" cy="82088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 txBox="1"/>
          <p:nvPr>
            <p:ph type="title"/>
          </p:nvPr>
        </p:nvSpPr>
        <p:spPr>
          <a:xfrm>
            <a:off x="572400" y="432000"/>
            <a:ext cx="7999199" cy="7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2" type="body"/>
          </p:nvPr>
        </p:nvSpPr>
        <p:spPr>
          <a:xfrm>
            <a:off x="5474825" y="1306800"/>
            <a:ext cx="3096774" cy="2376608"/>
          </a:xfrm>
          <a:prstGeom prst="rect">
            <a:avLst/>
          </a:prstGeom>
          <a:solidFill>
            <a:srgbClr val="E91C24"/>
          </a:solidFill>
          <a:ln>
            <a:noFill/>
          </a:ln>
        </p:spPr>
        <p:txBody>
          <a:bodyPr anchorCtr="0" anchor="ctr" bIns="360000" lIns="360000" spcFirstLastPara="1" rIns="360000" wrap="square" tIns="3600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Font typeface="Arial"/>
              <a:buNone/>
              <a:defRPr b="1"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2385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>
                <a:solidFill>
                  <a:schemeClr val="lt1"/>
                </a:solidFill>
              </a:defRPr>
            </a:lvl3pPr>
            <a:lvl4pPr indent="-314325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>
                <a:solidFill>
                  <a:schemeClr val="lt1"/>
                </a:solidFill>
              </a:defRPr>
            </a:lvl4pPr>
            <a:lvl5pPr indent="-31432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6306" y="4322619"/>
            <a:ext cx="1677694" cy="82088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 txBox="1"/>
          <p:nvPr/>
        </p:nvSpPr>
        <p:spPr>
          <a:xfrm>
            <a:off x="8739966" y="4867094"/>
            <a:ext cx="644577" cy="3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">
  <p:cSld name="Two Colum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, company name&#10;&#10;Description automatically generated" id="48" name="Google Shape;48;p6"/>
          <p:cNvPicPr preferRelativeResize="0"/>
          <p:nvPr/>
        </p:nvPicPr>
        <p:blipFill rotWithShape="1">
          <a:blip r:embed="rId2">
            <a:alphaModFix/>
          </a:blip>
          <a:srcRect b="40218" l="41195" r="599" t="36956"/>
          <a:stretch/>
        </p:blipFill>
        <p:spPr>
          <a:xfrm>
            <a:off x="7888221" y="171452"/>
            <a:ext cx="1121569" cy="4398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surface with a black background&#10;&#10;Description automatically generated with medium confidence"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6306" y="4322619"/>
            <a:ext cx="1677694" cy="82088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6"/>
          <p:cNvSpPr txBox="1"/>
          <p:nvPr>
            <p:ph type="title"/>
          </p:nvPr>
        </p:nvSpPr>
        <p:spPr>
          <a:xfrm>
            <a:off x="572401" y="432000"/>
            <a:ext cx="7999200" cy="663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" type="body"/>
          </p:nvPr>
        </p:nvSpPr>
        <p:spPr>
          <a:xfrm>
            <a:off x="572400" y="1221827"/>
            <a:ext cx="3716522" cy="3026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91C24"/>
              </a:buClr>
              <a:buSzPts val="1800"/>
              <a:buFont typeface="Arial"/>
              <a:buChar char="•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91C24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91C24"/>
              </a:buClr>
              <a:buSzPts val="1800"/>
              <a:buFont typeface="Arial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91C24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91C24"/>
              </a:buClr>
              <a:buSzPts val="1800"/>
              <a:buFont typeface="Arial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2" type="body"/>
          </p:nvPr>
        </p:nvSpPr>
        <p:spPr>
          <a:xfrm>
            <a:off x="4855079" y="1221827"/>
            <a:ext cx="3716521" cy="3026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91C24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91C24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91C24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91C24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91C24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4" name="Google Shape;5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6306" y="4322619"/>
            <a:ext cx="1677694" cy="82088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6"/>
          <p:cNvSpPr txBox="1"/>
          <p:nvPr/>
        </p:nvSpPr>
        <p:spPr>
          <a:xfrm>
            <a:off x="8739966" y="4867094"/>
            <a:ext cx="644577" cy="3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Sub-Head">
  <p:cSld name="Content With Sub-Head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, company name&#10;&#10;Description automatically generated" id="57" name="Google Shape;57;p7"/>
          <p:cNvPicPr preferRelativeResize="0"/>
          <p:nvPr/>
        </p:nvPicPr>
        <p:blipFill rotWithShape="1">
          <a:blip r:embed="rId2">
            <a:alphaModFix/>
          </a:blip>
          <a:srcRect b="40218" l="41195" r="599" t="36956"/>
          <a:stretch/>
        </p:blipFill>
        <p:spPr>
          <a:xfrm>
            <a:off x="7888221" y="171452"/>
            <a:ext cx="1121569" cy="4398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surface with a black background&#10;&#10;Description automatically generated with medium confidence" id="58" name="Google Shape;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surface with a black background&#10;&#10;Description automatically generated with medium confidence" id="59" name="Google Shape;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6306" y="4322619"/>
            <a:ext cx="1677694" cy="82088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7"/>
          <p:cNvSpPr txBox="1"/>
          <p:nvPr>
            <p:ph type="title"/>
          </p:nvPr>
        </p:nvSpPr>
        <p:spPr>
          <a:xfrm>
            <a:off x="571499" y="432594"/>
            <a:ext cx="8000008" cy="64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" type="body"/>
          </p:nvPr>
        </p:nvSpPr>
        <p:spPr>
          <a:xfrm>
            <a:off x="571499" y="1074019"/>
            <a:ext cx="8000007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3" name="Google Shape;63;p7"/>
          <p:cNvSpPr txBox="1"/>
          <p:nvPr>
            <p:ph idx="2" type="body"/>
          </p:nvPr>
        </p:nvSpPr>
        <p:spPr>
          <a:xfrm>
            <a:off x="571499" y="1598215"/>
            <a:ext cx="8000007" cy="2674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64" name="Google Shape;6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6306" y="4322619"/>
            <a:ext cx="1677694" cy="82088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/>
          <p:nvPr/>
        </p:nvSpPr>
        <p:spPr>
          <a:xfrm>
            <a:off x="8739966" y="4867094"/>
            <a:ext cx="644577" cy="3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Wave Above">
  <p:cSld name="Two Columns Wave Abov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-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6306" y="4322619"/>
            <a:ext cx="1677694" cy="820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6306" y="4322618"/>
            <a:ext cx="1677694" cy="82088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>
            <p:ph type="title"/>
          </p:nvPr>
        </p:nvSpPr>
        <p:spPr>
          <a:xfrm>
            <a:off x="572401" y="797761"/>
            <a:ext cx="7999200" cy="663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" type="body"/>
          </p:nvPr>
        </p:nvSpPr>
        <p:spPr>
          <a:xfrm>
            <a:off x="572400" y="1587588"/>
            <a:ext cx="3716522" cy="2758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91C24"/>
              </a:buClr>
              <a:buSzPts val="1800"/>
              <a:buFont typeface="Arial"/>
              <a:buChar char="•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91C24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91C24"/>
              </a:buClr>
              <a:buSzPts val="1800"/>
              <a:buFont typeface="Arial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91C24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91C24"/>
              </a:buClr>
              <a:buSzPts val="1800"/>
              <a:buFont typeface="Arial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2" type="body"/>
          </p:nvPr>
        </p:nvSpPr>
        <p:spPr>
          <a:xfrm>
            <a:off x="4855079" y="1587588"/>
            <a:ext cx="3716521" cy="2758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91C24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91C24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91C24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91C24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91C24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77098" y="150021"/>
            <a:ext cx="1152000" cy="47147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8"/>
          <p:cNvSpPr txBox="1"/>
          <p:nvPr/>
        </p:nvSpPr>
        <p:spPr>
          <a:xfrm>
            <a:off x="8739966" y="4867094"/>
            <a:ext cx="644577" cy="3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No Wave">
  <p:cSld name="Two Columns No Wave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, company name&#10;&#10;Description automatically generated" id="76" name="Google Shape;76;p9"/>
          <p:cNvPicPr preferRelativeResize="0"/>
          <p:nvPr/>
        </p:nvPicPr>
        <p:blipFill rotWithShape="1">
          <a:blip r:embed="rId2">
            <a:alphaModFix/>
          </a:blip>
          <a:srcRect b="40218" l="41195" r="599" t="36956"/>
          <a:stretch/>
        </p:blipFill>
        <p:spPr>
          <a:xfrm>
            <a:off x="7888221" y="171452"/>
            <a:ext cx="1121569" cy="43983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>
            <p:ph type="title"/>
          </p:nvPr>
        </p:nvSpPr>
        <p:spPr>
          <a:xfrm>
            <a:off x="572400" y="432000"/>
            <a:ext cx="7999199" cy="671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" type="body"/>
          </p:nvPr>
        </p:nvSpPr>
        <p:spPr>
          <a:xfrm>
            <a:off x="572400" y="1213945"/>
            <a:ext cx="3716522" cy="3152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91C24"/>
              </a:buClr>
              <a:buSzPts val="1800"/>
              <a:buFont typeface="Arial"/>
              <a:buChar char="•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91C24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91C24"/>
              </a:buClr>
              <a:buSzPts val="1800"/>
              <a:buFont typeface="Arial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91C24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91C24"/>
              </a:buClr>
              <a:buSzPts val="1800"/>
              <a:buFont typeface="Arial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2" type="body"/>
          </p:nvPr>
        </p:nvSpPr>
        <p:spPr>
          <a:xfrm>
            <a:off x="4855079" y="1213945"/>
            <a:ext cx="3716521" cy="3152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91C24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91C24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91C24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91C24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91C24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80" name="Google Shape;8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6306" y="4322618"/>
            <a:ext cx="1677694" cy="820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6306" y="4322618"/>
            <a:ext cx="1677694" cy="82088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/>
        </p:nvSpPr>
        <p:spPr>
          <a:xfrm>
            <a:off x="8739966" y="4867094"/>
            <a:ext cx="644577" cy="3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Sub-Head - No Wave">
  <p:cSld name="Content With Sub-Head - No Wave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, company name&#10;&#10;Description automatically generated" id="84" name="Google Shape;84;p10"/>
          <p:cNvPicPr preferRelativeResize="0"/>
          <p:nvPr/>
        </p:nvPicPr>
        <p:blipFill rotWithShape="1">
          <a:blip r:embed="rId2">
            <a:alphaModFix/>
          </a:blip>
          <a:srcRect b="40218" l="41195" r="599" t="36956"/>
          <a:stretch/>
        </p:blipFill>
        <p:spPr>
          <a:xfrm>
            <a:off x="7888221" y="171452"/>
            <a:ext cx="1121569" cy="439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6306" y="4322618"/>
            <a:ext cx="1677694" cy="820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6306" y="4322618"/>
            <a:ext cx="1677694" cy="82088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0"/>
          <p:cNvSpPr txBox="1"/>
          <p:nvPr>
            <p:ph type="title"/>
          </p:nvPr>
        </p:nvSpPr>
        <p:spPr>
          <a:xfrm>
            <a:off x="571499" y="432594"/>
            <a:ext cx="8000008" cy="64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571499" y="1074019"/>
            <a:ext cx="8000007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p10"/>
          <p:cNvSpPr txBox="1"/>
          <p:nvPr>
            <p:ph idx="2" type="body"/>
          </p:nvPr>
        </p:nvSpPr>
        <p:spPr>
          <a:xfrm>
            <a:off x="571499" y="1598215"/>
            <a:ext cx="8000007" cy="2674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0"/>
          <p:cNvSpPr txBox="1"/>
          <p:nvPr/>
        </p:nvSpPr>
        <p:spPr>
          <a:xfrm>
            <a:off x="8739966" y="4867094"/>
            <a:ext cx="644577" cy="3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 Thank You">
  <p:cSld name="Final Thank You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ape&#10;&#10;Description automatically generated" id="92" name="Google Shape;9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2600" y="2525197"/>
            <a:ext cx="2990851" cy="146339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1"/>
          <p:cNvSpPr txBox="1"/>
          <p:nvPr>
            <p:ph type="title"/>
          </p:nvPr>
        </p:nvSpPr>
        <p:spPr>
          <a:xfrm>
            <a:off x="2319306" y="1286908"/>
            <a:ext cx="5968416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3012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2"/>
          <p:cNvSpPr txBox="1"/>
          <p:nvPr>
            <p:ph type="ctrTitle"/>
          </p:nvPr>
        </p:nvSpPr>
        <p:spPr>
          <a:xfrm>
            <a:off x="473895" y="1802289"/>
            <a:ext cx="5712714" cy="74085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" type="subTitle"/>
          </p:nvPr>
        </p:nvSpPr>
        <p:spPr>
          <a:xfrm>
            <a:off x="473895" y="2612203"/>
            <a:ext cx="5712714" cy="1140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99" name="Google Shape;9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6306" y="4322619"/>
            <a:ext cx="1677694" cy="8208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cal user interface, text&#10;&#10;Description automatically generated" id="100" name="Google Shape;10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3572" y="292999"/>
            <a:ext cx="1323821" cy="68459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2"/>
          <p:cNvSpPr txBox="1"/>
          <p:nvPr/>
        </p:nvSpPr>
        <p:spPr>
          <a:xfrm>
            <a:off x="8739966" y="4867094"/>
            <a:ext cx="644577" cy="3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>
  <p:cSld name="3_Title Slide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3"/>
          <p:cNvPicPr preferRelativeResize="0"/>
          <p:nvPr/>
        </p:nvPicPr>
        <p:blipFill rotWithShape="1">
          <a:blip r:embed="rId2">
            <a:alphaModFix/>
          </a:blip>
          <a:srcRect b="0" l="0" r="5229" t="19900"/>
          <a:stretch/>
        </p:blipFill>
        <p:spPr>
          <a:xfrm>
            <a:off x="-2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3"/>
          <p:cNvPicPr preferRelativeResize="0"/>
          <p:nvPr/>
        </p:nvPicPr>
        <p:blipFill rotWithShape="1">
          <a:blip r:embed="rId3">
            <a:alphaModFix/>
          </a:blip>
          <a:srcRect b="50811" l="54706" r="0" t="0"/>
          <a:stretch/>
        </p:blipFill>
        <p:spPr>
          <a:xfrm>
            <a:off x="4695111" y="3591782"/>
            <a:ext cx="4448889" cy="1551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3"/>
          <p:cNvPicPr preferRelativeResize="0"/>
          <p:nvPr/>
        </p:nvPicPr>
        <p:blipFill rotWithShape="1">
          <a:blip r:embed="rId4">
            <a:alphaModFix/>
          </a:blip>
          <a:srcRect b="0" l="37497" r="0" t="66808"/>
          <a:stretch/>
        </p:blipFill>
        <p:spPr>
          <a:xfrm>
            <a:off x="-2" y="0"/>
            <a:ext cx="9144001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3"/>
          <p:cNvSpPr txBox="1"/>
          <p:nvPr>
            <p:ph type="ctrTitle"/>
          </p:nvPr>
        </p:nvSpPr>
        <p:spPr>
          <a:xfrm>
            <a:off x="402336" y="421148"/>
            <a:ext cx="5712714" cy="615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" type="subTitle"/>
          </p:nvPr>
        </p:nvSpPr>
        <p:spPr>
          <a:xfrm>
            <a:off x="402336" y="1141169"/>
            <a:ext cx="368557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108" name="Google Shape;10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56712" y="3926491"/>
            <a:ext cx="2487288" cy="12170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cal user interface, text&#10;&#10;Description automatically generated" id="109" name="Google Shape;10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61793" y="-12464"/>
            <a:ext cx="1155600" cy="59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 txBox="1"/>
          <p:nvPr/>
        </p:nvSpPr>
        <p:spPr>
          <a:xfrm>
            <a:off x="8739966" y="4867094"/>
            <a:ext cx="644577" cy="3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- Wave Above">
  <p:cSld name="Content Slide - Wave Above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-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571500" y="1542299"/>
            <a:ext cx="8055666" cy="2834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14" name="Google Shape;11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6306" y="4322619"/>
            <a:ext cx="1677694" cy="82088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>
            <p:ph type="title"/>
          </p:nvPr>
        </p:nvSpPr>
        <p:spPr>
          <a:xfrm>
            <a:off x="571499" y="766546"/>
            <a:ext cx="8055666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6306" y="4322618"/>
            <a:ext cx="1677694" cy="820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77098" y="150021"/>
            <a:ext cx="1152000" cy="47147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8739966" y="4867094"/>
            <a:ext cx="644577" cy="3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Box - Wave Above">
  <p:cSld name="Content With Box - Wave Above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-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6306" y="4322619"/>
            <a:ext cx="1677694" cy="820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6306" y="4322618"/>
            <a:ext cx="1677694" cy="82088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>
            <p:ph type="title"/>
          </p:nvPr>
        </p:nvSpPr>
        <p:spPr>
          <a:xfrm>
            <a:off x="572400" y="797761"/>
            <a:ext cx="8242679" cy="663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5"/>
          <p:cNvSpPr txBox="1"/>
          <p:nvPr>
            <p:ph idx="1" type="body"/>
          </p:nvPr>
        </p:nvSpPr>
        <p:spPr>
          <a:xfrm>
            <a:off x="572401" y="1593050"/>
            <a:ext cx="4425268" cy="311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15"/>
          <p:cNvSpPr txBox="1"/>
          <p:nvPr>
            <p:ph idx="2" type="body"/>
          </p:nvPr>
        </p:nvSpPr>
        <p:spPr>
          <a:xfrm>
            <a:off x="5474825" y="1593051"/>
            <a:ext cx="3340254" cy="2376608"/>
          </a:xfrm>
          <a:prstGeom prst="rect">
            <a:avLst/>
          </a:prstGeom>
          <a:solidFill>
            <a:srgbClr val="E91C24"/>
          </a:solidFill>
          <a:ln>
            <a:noFill/>
          </a:ln>
        </p:spPr>
        <p:txBody>
          <a:bodyPr anchorCtr="0" anchor="ctr" bIns="360000" lIns="360000" spcFirstLastPara="1" rIns="360000" wrap="square" tIns="3600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Font typeface="Arial"/>
              <a:buNone/>
              <a:defRPr b="1"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2385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>
                <a:solidFill>
                  <a:schemeClr val="lt1"/>
                </a:solidFill>
              </a:defRPr>
            </a:lvl3pPr>
            <a:lvl4pPr indent="-314325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>
                <a:solidFill>
                  <a:schemeClr val="lt1"/>
                </a:solidFill>
              </a:defRPr>
            </a:lvl4pPr>
            <a:lvl5pPr indent="-31432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26" name="Google Shape;12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77098" y="150021"/>
            <a:ext cx="1152000" cy="471473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8739966" y="4867094"/>
            <a:ext cx="644577" cy="3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New Section">
  <p:cSld name="1_New Section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8030" y="4108174"/>
            <a:ext cx="2115970" cy="103532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>
            <p:ph type="ctrTitle"/>
          </p:nvPr>
        </p:nvSpPr>
        <p:spPr>
          <a:xfrm>
            <a:off x="572400" y="421148"/>
            <a:ext cx="5712714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572400" y="2280904"/>
            <a:ext cx="5712714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133" name="Google Shape;1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7098" y="150021"/>
            <a:ext cx="1152000" cy="471473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8739966" y="4867094"/>
            <a:ext cx="644577" cy="3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/>
          <p:nvPr>
            <p:ph type="ctrTitle"/>
          </p:nvPr>
        </p:nvSpPr>
        <p:spPr>
          <a:xfrm>
            <a:off x="572400" y="816075"/>
            <a:ext cx="6589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Updated PPT Template</a:t>
            </a:r>
            <a:endParaRPr/>
          </a:p>
        </p:txBody>
      </p:sp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572400" y="2685098"/>
            <a:ext cx="5712714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n-US"/>
              <a:t>[Placeholder Text]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3101510" y="4867380"/>
            <a:ext cx="294097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[Placeholder Text]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>
            <p:ph type="title"/>
          </p:nvPr>
        </p:nvSpPr>
        <p:spPr>
          <a:xfrm>
            <a:off x="571499" y="432594"/>
            <a:ext cx="8055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3101510" y="4867380"/>
            <a:ext cx="294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>
            <p:ph type="ctrTitle"/>
          </p:nvPr>
        </p:nvSpPr>
        <p:spPr>
          <a:xfrm>
            <a:off x="572400" y="421148"/>
            <a:ext cx="57126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Motivation &amp; Problem Statement</a:t>
            </a:r>
            <a:endParaRPr/>
          </a:p>
        </p:txBody>
      </p:sp>
      <p:sp>
        <p:nvSpPr>
          <p:cNvPr id="154" name="Google Shape;154;p19"/>
          <p:cNvSpPr txBox="1"/>
          <p:nvPr>
            <p:ph idx="1" type="subTitle"/>
          </p:nvPr>
        </p:nvSpPr>
        <p:spPr>
          <a:xfrm>
            <a:off x="572400" y="2280904"/>
            <a:ext cx="57126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en-US"/>
              <a:t>Rendezvous</a:t>
            </a:r>
            <a:r>
              <a:rPr i="1" lang="en-US"/>
              <a:t> Proximity Operations</a:t>
            </a:r>
            <a:endParaRPr i="1"/>
          </a:p>
        </p:txBody>
      </p:sp>
      <p:sp>
        <p:nvSpPr>
          <p:cNvPr id="155" name="Google Shape;155;p19"/>
          <p:cNvSpPr txBox="1"/>
          <p:nvPr/>
        </p:nvSpPr>
        <p:spPr>
          <a:xfrm>
            <a:off x="3100045" y="4865915"/>
            <a:ext cx="294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PhD Proposal – July 29, 2025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2319306" y="1286908"/>
            <a:ext cx="5968416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arletonU">
  <a:themeElements>
    <a:clrScheme name="Carleton Colours">
      <a:dk1>
        <a:srgbClr val="000000"/>
      </a:dk1>
      <a:lt1>
        <a:srgbClr val="FFFFFF"/>
      </a:lt1>
      <a:dk2>
        <a:srgbClr val="414141"/>
      </a:dk2>
      <a:lt2>
        <a:srgbClr val="E7E6E6"/>
      </a:lt2>
      <a:accent1>
        <a:srgbClr val="E91C24"/>
      </a:accent1>
      <a:accent2>
        <a:srgbClr val="A0A0A0"/>
      </a:accent2>
      <a:accent3>
        <a:srgbClr val="FBD2D3"/>
      </a:accent3>
      <a:accent4>
        <a:srgbClr val="D5D5D5"/>
      </a:accent4>
      <a:accent5>
        <a:srgbClr val="038044"/>
      </a:accent5>
      <a:accent6>
        <a:srgbClr val="1166AA"/>
      </a:accent6>
      <a:hlink>
        <a:srgbClr val="003C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